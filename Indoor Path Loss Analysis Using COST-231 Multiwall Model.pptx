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60" r:id="rId4"/>
    <p:sldId id="262" r:id="rId5"/>
    <p:sldId id="263" r:id="rId6"/>
    <p:sldId id="264" r:id="rId7"/>
    <p:sldId id="265" r:id="rId8"/>
    <p:sldId id="266" r:id="rId9"/>
    <p:sldId id="259"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D8636-E614-47B5-BF3A-441ADCEC3E29}" v="27" dt="2025-04-27T17:46:06.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4/27/2025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4/27/2025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4/27/2025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4/27/2025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3B37-FCED-8272-E911-88A1DE74EFE6}"/>
              </a:ext>
            </a:extLst>
          </p:cNvPr>
          <p:cNvSpPr>
            <a:spLocks noGrp="1"/>
          </p:cNvSpPr>
          <p:nvPr>
            <p:ph type="ctrTitle"/>
          </p:nvPr>
        </p:nvSpPr>
        <p:spPr>
          <a:xfrm>
            <a:off x="1154955" y="875073"/>
            <a:ext cx="8825658" cy="1553496"/>
          </a:xfrm>
        </p:spPr>
        <p:txBody>
          <a:bodyPr/>
          <a:lstStyle/>
          <a:p>
            <a:r>
              <a:rPr lang="en-IN" sz="4000" dirty="0">
                <a:latin typeface="Verdana" panose="020B0604030504040204" pitchFamily="34" charset="0"/>
                <a:ea typeface="Verdana" panose="020B0604030504040204" pitchFamily="34" charset="0"/>
              </a:rPr>
              <a:t>I</a:t>
            </a:r>
            <a:r>
              <a:rPr lang="en-IN" sz="4000" cap="none" dirty="0">
                <a:latin typeface="Verdana" panose="020B0604030504040204" pitchFamily="34" charset="0"/>
                <a:ea typeface="Verdana" panose="020B0604030504040204" pitchFamily="34" charset="0"/>
              </a:rPr>
              <a:t>ndoor</a:t>
            </a:r>
            <a:r>
              <a:rPr lang="en-IN" sz="4000" dirty="0">
                <a:latin typeface="Verdana" panose="020B0604030504040204" pitchFamily="34" charset="0"/>
                <a:ea typeface="Verdana" panose="020B0604030504040204" pitchFamily="34" charset="0"/>
              </a:rPr>
              <a:t> P</a:t>
            </a:r>
            <a:r>
              <a:rPr lang="en-IN" sz="4000" cap="none" dirty="0">
                <a:latin typeface="Verdana" panose="020B0604030504040204" pitchFamily="34" charset="0"/>
                <a:ea typeface="Verdana" panose="020B0604030504040204" pitchFamily="34" charset="0"/>
              </a:rPr>
              <a:t>ath</a:t>
            </a:r>
            <a:r>
              <a:rPr lang="en-IN" sz="4000" dirty="0">
                <a:latin typeface="Verdana" panose="020B0604030504040204" pitchFamily="34" charset="0"/>
                <a:ea typeface="Verdana" panose="020B0604030504040204" pitchFamily="34" charset="0"/>
              </a:rPr>
              <a:t> L</a:t>
            </a:r>
            <a:r>
              <a:rPr lang="en-IN" sz="4000" cap="none" dirty="0">
                <a:latin typeface="Verdana" panose="020B0604030504040204" pitchFamily="34" charset="0"/>
                <a:ea typeface="Verdana" panose="020B0604030504040204" pitchFamily="34" charset="0"/>
              </a:rPr>
              <a:t>oss</a:t>
            </a:r>
            <a:r>
              <a:rPr lang="en-IN" sz="4000" dirty="0">
                <a:latin typeface="Verdana" panose="020B0604030504040204" pitchFamily="34" charset="0"/>
                <a:ea typeface="Verdana" panose="020B0604030504040204" pitchFamily="34" charset="0"/>
              </a:rPr>
              <a:t> A</a:t>
            </a:r>
            <a:r>
              <a:rPr lang="en-IN" sz="4000" cap="none" dirty="0">
                <a:latin typeface="Verdana" panose="020B0604030504040204" pitchFamily="34" charset="0"/>
                <a:ea typeface="Verdana" panose="020B0604030504040204" pitchFamily="34" charset="0"/>
              </a:rPr>
              <a:t>nalysis</a:t>
            </a:r>
            <a:r>
              <a:rPr lang="en-IN" sz="4000" dirty="0">
                <a:latin typeface="Verdana" panose="020B0604030504040204" pitchFamily="34" charset="0"/>
                <a:ea typeface="Verdana" panose="020B0604030504040204" pitchFamily="34" charset="0"/>
              </a:rPr>
              <a:t> U</a:t>
            </a:r>
            <a:r>
              <a:rPr lang="en-IN" sz="4000" cap="none" dirty="0">
                <a:latin typeface="Verdana" panose="020B0604030504040204" pitchFamily="34" charset="0"/>
                <a:ea typeface="Verdana" panose="020B0604030504040204" pitchFamily="34" charset="0"/>
              </a:rPr>
              <a:t>sing</a:t>
            </a:r>
            <a:r>
              <a:rPr lang="en-IN" sz="4000" dirty="0">
                <a:latin typeface="Verdana" panose="020B0604030504040204" pitchFamily="34" charset="0"/>
                <a:ea typeface="Verdana" panose="020B0604030504040204" pitchFamily="34" charset="0"/>
              </a:rPr>
              <a:t> COST-231 M</a:t>
            </a:r>
            <a:r>
              <a:rPr lang="en-IN" sz="4000" cap="none" dirty="0">
                <a:latin typeface="Verdana" panose="020B0604030504040204" pitchFamily="34" charset="0"/>
                <a:ea typeface="Verdana" panose="020B0604030504040204" pitchFamily="34" charset="0"/>
              </a:rPr>
              <a:t>ultiwall</a:t>
            </a:r>
            <a:r>
              <a:rPr lang="en-IN" sz="4000" dirty="0">
                <a:latin typeface="Verdana" panose="020B0604030504040204" pitchFamily="34" charset="0"/>
                <a:ea typeface="Verdana" panose="020B0604030504040204" pitchFamily="34" charset="0"/>
              </a:rPr>
              <a:t> </a:t>
            </a:r>
            <a:r>
              <a:rPr lang="en-IN" sz="4000" cap="none" dirty="0">
                <a:latin typeface="Verdana" panose="020B0604030504040204" pitchFamily="34" charset="0"/>
                <a:ea typeface="Verdana" panose="020B0604030504040204" pitchFamily="34" charset="0"/>
              </a:rPr>
              <a:t>Model</a:t>
            </a:r>
            <a:endParaRPr lang="en-IN" sz="4000" dirty="0">
              <a:latin typeface="Verdana" panose="020B0604030504040204" pitchFamily="34" charset="0"/>
              <a:ea typeface="Verdana" panose="020B0604030504040204" pitchFamily="34" charset="0"/>
            </a:endParaRPr>
          </a:p>
        </p:txBody>
      </p:sp>
      <p:sp>
        <p:nvSpPr>
          <p:cNvPr id="3" name="Subtitle 2">
            <a:extLst>
              <a:ext uri="{FF2B5EF4-FFF2-40B4-BE49-F238E27FC236}">
                <a16:creationId xmlns:a16="http://schemas.microsoft.com/office/drawing/2014/main" id="{EEDFE364-16AD-1BD7-EC62-B0024A83646A}"/>
              </a:ext>
            </a:extLst>
          </p:cNvPr>
          <p:cNvSpPr>
            <a:spLocks noGrp="1"/>
          </p:cNvSpPr>
          <p:nvPr>
            <p:ph type="subTitle" idx="1"/>
          </p:nvPr>
        </p:nvSpPr>
        <p:spPr>
          <a:xfrm>
            <a:off x="629266" y="2772697"/>
            <a:ext cx="10894140" cy="2866103"/>
          </a:xfrm>
        </p:spPr>
        <p:txBody>
          <a:bodyPr>
            <a:normAutofit/>
          </a:bodyPr>
          <a:lstStyle/>
          <a:p>
            <a:r>
              <a:rPr lang="en-IN" sz="2400" dirty="0">
                <a:solidFill>
                  <a:schemeClr val="bg1"/>
                </a:solidFill>
                <a:latin typeface="Verdana" panose="020B0604030504040204" pitchFamily="34" charset="0"/>
                <a:ea typeface="Verdana" panose="020B0604030504040204" pitchFamily="34" charset="0"/>
              </a:rPr>
              <a:t>U</a:t>
            </a:r>
            <a:r>
              <a:rPr lang="en-IN" sz="2400" cap="none" dirty="0">
                <a:solidFill>
                  <a:schemeClr val="bg1"/>
                </a:solidFill>
                <a:latin typeface="Verdana" panose="020B0604030504040204" pitchFamily="34" charset="0"/>
                <a:ea typeface="Verdana" panose="020B0604030504040204" pitchFamily="34" charset="0"/>
              </a:rPr>
              <a:t>nder</a:t>
            </a:r>
            <a:r>
              <a:rPr lang="en-IN" sz="2400" dirty="0">
                <a:solidFill>
                  <a:schemeClr val="bg1"/>
                </a:solidFill>
                <a:latin typeface="Verdana" panose="020B0604030504040204" pitchFamily="34" charset="0"/>
                <a:ea typeface="Verdana" panose="020B0604030504040204" pitchFamily="34" charset="0"/>
              </a:rPr>
              <a:t> t</a:t>
            </a:r>
            <a:r>
              <a:rPr lang="en-IN" sz="2400" cap="none" dirty="0">
                <a:solidFill>
                  <a:schemeClr val="bg1"/>
                </a:solidFill>
                <a:latin typeface="Verdana" panose="020B0604030504040204" pitchFamily="34" charset="0"/>
                <a:ea typeface="Verdana" panose="020B0604030504040204" pitchFamily="34" charset="0"/>
              </a:rPr>
              <a:t>he</a:t>
            </a:r>
            <a:r>
              <a:rPr lang="en-IN" sz="2400" dirty="0">
                <a:solidFill>
                  <a:schemeClr val="bg1"/>
                </a:solidFill>
                <a:latin typeface="Verdana" panose="020B0604030504040204" pitchFamily="34" charset="0"/>
                <a:ea typeface="Verdana" panose="020B0604030504040204" pitchFamily="34" charset="0"/>
              </a:rPr>
              <a:t> g</a:t>
            </a:r>
            <a:r>
              <a:rPr lang="en-IN" sz="2400" cap="none" dirty="0">
                <a:solidFill>
                  <a:schemeClr val="bg1"/>
                </a:solidFill>
                <a:latin typeface="Verdana" panose="020B0604030504040204" pitchFamily="34" charset="0"/>
                <a:ea typeface="Verdana" panose="020B0604030504040204" pitchFamily="34" charset="0"/>
              </a:rPr>
              <a:t>uidance</a:t>
            </a:r>
            <a:r>
              <a:rPr lang="en-IN" sz="2400" dirty="0">
                <a:solidFill>
                  <a:schemeClr val="bg1"/>
                </a:solidFill>
                <a:latin typeface="Verdana" panose="020B0604030504040204" pitchFamily="34" charset="0"/>
                <a:ea typeface="Verdana" panose="020B0604030504040204" pitchFamily="34" charset="0"/>
              </a:rPr>
              <a:t>  o</a:t>
            </a:r>
            <a:r>
              <a:rPr lang="en-IN" sz="2400" cap="none" dirty="0">
                <a:solidFill>
                  <a:schemeClr val="bg1"/>
                </a:solidFill>
                <a:latin typeface="Verdana" panose="020B0604030504040204" pitchFamily="34" charset="0"/>
                <a:ea typeface="Verdana" panose="020B0604030504040204" pitchFamily="34" charset="0"/>
              </a:rPr>
              <a:t>f</a:t>
            </a:r>
            <a:r>
              <a:rPr lang="en-IN" sz="2400" dirty="0">
                <a:solidFill>
                  <a:schemeClr val="bg1"/>
                </a:solidFill>
                <a:latin typeface="Verdana" panose="020B0604030504040204" pitchFamily="34" charset="0"/>
                <a:ea typeface="Verdana" panose="020B0604030504040204" pitchFamily="34" charset="0"/>
              </a:rPr>
              <a:t>                                   p</a:t>
            </a:r>
            <a:r>
              <a:rPr lang="en-IN" sz="2400" cap="none" dirty="0">
                <a:solidFill>
                  <a:schemeClr val="bg1"/>
                </a:solidFill>
                <a:latin typeface="Verdana" panose="020B0604030504040204" pitchFamily="34" charset="0"/>
                <a:ea typeface="Verdana" panose="020B0604030504040204" pitchFamily="34" charset="0"/>
              </a:rPr>
              <a:t>resenting</a:t>
            </a:r>
            <a:r>
              <a:rPr lang="en-IN" sz="2400" dirty="0">
                <a:solidFill>
                  <a:schemeClr val="bg1"/>
                </a:solidFill>
                <a:latin typeface="Verdana" panose="020B0604030504040204" pitchFamily="34" charset="0"/>
                <a:ea typeface="Verdana" panose="020B0604030504040204" pitchFamily="34" charset="0"/>
              </a:rPr>
              <a:t> b</a:t>
            </a:r>
            <a:r>
              <a:rPr lang="en-IN" sz="2400" cap="none" dirty="0">
                <a:solidFill>
                  <a:schemeClr val="bg1"/>
                </a:solidFill>
                <a:latin typeface="Verdana" panose="020B0604030504040204" pitchFamily="34" charset="0"/>
                <a:ea typeface="Verdana" panose="020B0604030504040204" pitchFamily="34" charset="0"/>
              </a:rPr>
              <a:t>y</a:t>
            </a:r>
            <a:r>
              <a:rPr lang="en-IN" sz="2400" dirty="0">
                <a:solidFill>
                  <a:schemeClr val="bg1"/>
                </a:solidFill>
                <a:latin typeface="Verdana" panose="020B0604030504040204" pitchFamily="34" charset="0"/>
                <a:ea typeface="Verdana" panose="020B0604030504040204" pitchFamily="34" charset="0"/>
              </a:rPr>
              <a:t>                                  </a:t>
            </a:r>
          </a:p>
          <a:p>
            <a:r>
              <a:rPr lang="en-IN" sz="2400" dirty="0">
                <a:solidFill>
                  <a:schemeClr val="bg1"/>
                </a:solidFill>
                <a:latin typeface="Verdana" panose="020B0604030504040204" pitchFamily="34" charset="0"/>
                <a:ea typeface="Verdana" panose="020B0604030504040204" pitchFamily="34" charset="0"/>
              </a:rPr>
              <a:t>Dr. P. C</a:t>
            </a:r>
            <a:r>
              <a:rPr lang="en-IN" sz="2400" cap="none" dirty="0">
                <a:solidFill>
                  <a:schemeClr val="bg1"/>
                </a:solidFill>
                <a:latin typeface="Verdana" panose="020B0604030504040204" pitchFamily="34" charset="0"/>
                <a:ea typeface="Verdana" panose="020B0604030504040204" pitchFamily="34" charset="0"/>
              </a:rPr>
              <a:t>handra</a:t>
            </a:r>
            <a:r>
              <a:rPr lang="en-IN" sz="2400" dirty="0">
                <a:solidFill>
                  <a:schemeClr val="bg1"/>
                </a:solidFill>
                <a:latin typeface="Verdana" panose="020B0604030504040204" pitchFamily="34" charset="0"/>
                <a:ea typeface="Verdana" panose="020B0604030504040204" pitchFamily="34" charset="0"/>
              </a:rPr>
              <a:t> S</a:t>
            </a:r>
            <a:r>
              <a:rPr lang="en-IN" sz="2400" cap="none" dirty="0">
                <a:solidFill>
                  <a:schemeClr val="bg1"/>
                </a:solidFill>
                <a:latin typeface="Verdana" panose="020B0604030504040204" pitchFamily="34" charset="0"/>
                <a:ea typeface="Verdana" panose="020B0604030504040204" pitchFamily="34" charset="0"/>
              </a:rPr>
              <a:t>hekar</a:t>
            </a:r>
            <a:r>
              <a:rPr lang="en-IN" sz="2400" dirty="0">
                <a:solidFill>
                  <a:schemeClr val="bg1"/>
                </a:solidFill>
                <a:latin typeface="Verdana" panose="020B0604030504040204" pitchFamily="34" charset="0"/>
                <a:ea typeface="Verdana" panose="020B0604030504040204" pitchFamily="34" charset="0"/>
              </a:rPr>
              <a:t> R</a:t>
            </a:r>
            <a:r>
              <a:rPr lang="en-IN" sz="2400" cap="none" dirty="0">
                <a:solidFill>
                  <a:schemeClr val="bg1"/>
                </a:solidFill>
                <a:latin typeface="Verdana" panose="020B0604030504040204" pitchFamily="34" charset="0"/>
                <a:ea typeface="Verdana" panose="020B0604030504040204" pitchFamily="34" charset="0"/>
              </a:rPr>
              <a:t>eddy                            Y. Praveen</a:t>
            </a:r>
            <a:endParaRPr lang="en-IN" sz="2400" dirty="0">
              <a:solidFill>
                <a:schemeClr val="bg1"/>
              </a:solidFill>
              <a:latin typeface="Verdana" panose="020B0604030504040204" pitchFamily="34" charset="0"/>
              <a:ea typeface="Verdana" panose="020B0604030504040204" pitchFamily="34" charset="0"/>
            </a:endParaRPr>
          </a:p>
          <a:p>
            <a:r>
              <a:rPr lang="en-IN" sz="2400" dirty="0">
                <a:solidFill>
                  <a:schemeClr val="bg1"/>
                </a:solidFill>
                <a:latin typeface="Verdana" panose="020B0604030504040204" pitchFamily="34" charset="0"/>
                <a:ea typeface="Verdana" panose="020B0604030504040204" pitchFamily="34" charset="0"/>
              </a:rPr>
              <a:t>P</a:t>
            </a:r>
            <a:r>
              <a:rPr lang="en-IN" sz="2400" cap="none" dirty="0">
                <a:solidFill>
                  <a:schemeClr val="bg1"/>
                </a:solidFill>
                <a:latin typeface="Verdana" panose="020B0604030504040204" pitchFamily="34" charset="0"/>
                <a:ea typeface="Verdana" panose="020B0604030504040204" pitchFamily="34" charset="0"/>
              </a:rPr>
              <a:t>rofessor</a:t>
            </a:r>
            <a:r>
              <a:rPr lang="en-IN" sz="2400" dirty="0">
                <a:solidFill>
                  <a:schemeClr val="bg1"/>
                </a:solidFill>
                <a:latin typeface="Verdana" panose="020B0604030504040204" pitchFamily="34" charset="0"/>
                <a:ea typeface="Verdana" panose="020B0604030504040204" pitchFamily="34" charset="0"/>
              </a:rPr>
              <a:t>, D</a:t>
            </a:r>
            <a:r>
              <a:rPr lang="en-IN" sz="2400" cap="none" dirty="0">
                <a:solidFill>
                  <a:schemeClr val="bg1"/>
                </a:solidFill>
                <a:latin typeface="Verdana" panose="020B0604030504040204" pitchFamily="34" charset="0"/>
                <a:ea typeface="Verdana" panose="020B0604030504040204" pitchFamily="34" charset="0"/>
              </a:rPr>
              <a:t>epartment</a:t>
            </a:r>
            <a:r>
              <a:rPr lang="en-IN" sz="2400" dirty="0">
                <a:solidFill>
                  <a:schemeClr val="bg1"/>
                </a:solidFill>
                <a:latin typeface="Verdana" panose="020B0604030504040204" pitchFamily="34" charset="0"/>
                <a:ea typeface="Verdana" panose="020B0604030504040204" pitchFamily="34" charset="0"/>
              </a:rPr>
              <a:t> o</a:t>
            </a:r>
            <a:r>
              <a:rPr lang="en-IN" sz="2400" cap="none" dirty="0">
                <a:solidFill>
                  <a:schemeClr val="bg1"/>
                </a:solidFill>
                <a:latin typeface="Verdana" panose="020B0604030504040204" pitchFamily="34" charset="0"/>
                <a:ea typeface="Verdana" panose="020B0604030504040204" pitchFamily="34" charset="0"/>
              </a:rPr>
              <a:t>f</a:t>
            </a:r>
            <a:r>
              <a:rPr lang="en-IN" sz="2400" dirty="0">
                <a:solidFill>
                  <a:schemeClr val="bg1"/>
                </a:solidFill>
                <a:latin typeface="Verdana" panose="020B0604030504040204" pitchFamily="34" charset="0"/>
                <a:ea typeface="Verdana" panose="020B0604030504040204" pitchFamily="34" charset="0"/>
              </a:rPr>
              <a:t> ECE                            24011D4524</a:t>
            </a:r>
          </a:p>
          <a:p>
            <a:r>
              <a:rPr lang="en-IN" sz="2400" dirty="0">
                <a:solidFill>
                  <a:schemeClr val="bg1"/>
                </a:solidFill>
                <a:latin typeface="Verdana" panose="020B0604030504040204" pitchFamily="34" charset="0"/>
                <a:ea typeface="Verdana" panose="020B0604030504040204" pitchFamily="34" charset="0"/>
              </a:rPr>
              <a:t>                                                                      M-</a:t>
            </a:r>
            <a:r>
              <a:rPr lang="en-IN" sz="2400" cap="none" dirty="0">
                <a:solidFill>
                  <a:schemeClr val="bg1"/>
                </a:solidFill>
                <a:latin typeface="Verdana" panose="020B0604030504040204" pitchFamily="34" charset="0"/>
                <a:ea typeface="Verdana" panose="020B0604030504040204" pitchFamily="34" charset="0"/>
              </a:rPr>
              <a:t>tech , ECE ,SSP</a:t>
            </a:r>
            <a:endParaRPr lang="en-IN" sz="2400"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16564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39DC-9030-C3F9-649E-19938F45F9CF}"/>
              </a:ext>
            </a:extLst>
          </p:cNvPr>
          <p:cNvSpPr>
            <a:spLocks noGrp="1"/>
          </p:cNvSpPr>
          <p:nvPr>
            <p:ph type="ctrTitle"/>
          </p:nvPr>
        </p:nvSpPr>
        <p:spPr>
          <a:xfrm>
            <a:off x="1154955" y="1002891"/>
            <a:ext cx="8825658" cy="698090"/>
          </a:xfrm>
        </p:spPr>
        <p:txBody>
          <a:bodyPr/>
          <a:lstStyle/>
          <a:p>
            <a:r>
              <a:rPr lang="en-IN" sz="3200" dirty="0">
                <a:latin typeface="Verdana" panose="020B0604030504040204" pitchFamily="34" charset="0"/>
                <a:ea typeface="Verdana" panose="020B0604030504040204" pitchFamily="34" charset="0"/>
              </a:rPr>
              <a:t>Contents:</a:t>
            </a:r>
          </a:p>
        </p:txBody>
      </p:sp>
      <p:sp>
        <p:nvSpPr>
          <p:cNvPr id="3" name="Subtitle 2">
            <a:extLst>
              <a:ext uri="{FF2B5EF4-FFF2-40B4-BE49-F238E27FC236}">
                <a16:creationId xmlns:a16="http://schemas.microsoft.com/office/drawing/2014/main" id="{6FCF5E48-AFBB-61EE-07F2-7C97E2F9CF0F}"/>
              </a:ext>
            </a:extLst>
          </p:cNvPr>
          <p:cNvSpPr>
            <a:spLocks noGrp="1"/>
          </p:cNvSpPr>
          <p:nvPr>
            <p:ph type="subTitle" idx="1"/>
          </p:nvPr>
        </p:nvSpPr>
        <p:spPr>
          <a:xfrm>
            <a:off x="1154955" y="1917290"/>
            <a:ext cx="8825658" cy="3721510"/>
          </a:xfrm>
        </p:spPr>
        <p:txBody>
          <a:bodyPr>
            <a:normAutofit/>
          </a:bodyPr>
          <a:lstStyle/>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A</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im</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O</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bjectives</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I</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ntroduction</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E</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xisting</a:t>
            </a: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 W</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ork</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P</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roposed</a:t>
            </a: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 W</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ork</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B</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lock</a:t>
            </a: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 D</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iagram</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R</a:t>
            </a:r>
            <a:r>
              <a:rPr lang="en-IN" sz="2600" cap="none"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eference</a:t>
            </a:r>
            <a:endParaRPr lang="en-IN" sz="2600"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847010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21AB-2A0B-B7E3-02B5-B2F36406A128}"/>
              </a:ext>
            </a:extLst>
          </p:cNvPr>
          <p:cNvSpPr>
            <a:spLocks noGrp="1"/>
          </p:cNvSpPr>
          <p:nvPr>
            <p:ph type="ctrTitle"/>
          </p:nvPr>
        </p:nvSpPr>
        <p:spPr>
          <a:xfrm>
            <a:off x="1154955" y="806245"/>
            <a:ext cx="8825658" cy="861420"/>
          </a:xfrm>
        </p:spPr>
        <p:txBody>
          <a:bodyPr/>
          <a:lstStyle/>
          <a:p>
            <a:r>
              <a:rPr lang="en-IN" sz="3200" dirty="0">
                <a:latin typeface="Verdana" panose="020B0604030504040204" pitchFamily="34" charset="0"/>
                <a:ea typeface="Verdana" panose="020B0604030504040204" pitchFamily="34" charset="0"/>
              </a:rPr>
              <a:t>Aim:</a:t>
            </a:r>
          </a:p>
        </p:txBody>
      </p:sp>
      <p:sp>
        <p:nvSpPr>
          <p:cNvPr id="3" name="Subtitle 2">
            <a:extLst>
              <a:ext uri="{FF2B5EF4-FFF2-40B4-BE49-F238E27FC236}">
                <a16:creationId xmlns:a16="http://schemas.microsoft.com/office/drawing/2014/main" id="{FF904A59-D1EF-4A0A-2102-D73E4C411D96}"/>
              </a:ext>
            </a:extLst>
          </p:cNvPr>
          <p:cNvSpPr>
            <a:spLocks noGrp="1"/>
          </p:cNvSpPr>
          <p:nvPr>
            <p:ph type="subTitle" idx="1"/>
          </p:nvPr>
        </p:nvSpPr>
        <p:spPr>
          <a:xfrm>
            <a:off x="1154954" y="1818968"/>
            <a:ext cx="9522877" cy="3819832"/>
          </a:xfrm>
        </p:spPr>
        <p:txBody>
          <a:bodyPr/>
          <a:lstStyle/>
          <a:p>
            <a:r>
              <a:rPr lang="en-US" cap="none" dirty="0">
                <a:solidFill>
                  <a:schemeClr val="bg1"/>
                </a:solidFill>
              </a:rPr>
              <a:t>To evaluate the model path loss in indoor environments using the cost-231 multiwall model</a:t>
            </a:r>
            <a:r>
              <a:rPr lang="en-US" dirty="0">
                <a:solidFill>
                  <a:schemeClr val="bg1"/>
                </a:solidFill>
              </a:rPr>
              <a:t>. </a:t>
            </a:r>
            <a:r>
              <a:rPr lang="en-US" cap="none" dirty="0">
                <a:solidFill>
                  <a:schemeClr val="bg1"/>
                </a:solidFill>
              </a:rPr>
              <a:t>This involves understanding how various indoor factors, such as wall materials</a:t>
            </a:r>
            <a:r>
              <a:rPr lang="en-US" dirty="0">
                <a:solidFill>
                  <a:schemeClr val="bg1"/>
                </a:solidFill>
              </a:rPr>
              <a:t>, </a:t>
            </a:r>
            <a:r>
              <a:rPr lang="en-US" cap="none" dirty="0">
                <a:solidFill>
                  <a:schemeClr val="bg1"/>
                </a:solidFill>
              </a:rPr>
              <a:t>Signal frequency</a:t>
            </a:r>
            <a:r>
              <a:rPr lang="en-US" dirty="0">
                <a:solidFill>
                  <a:schemeClr val="bg1"/>
                </a:solidFill>
              </a:rPr>
              <a:t>, </a:t>
            </a:r>
            <a:r>
              <a:rPr lang="en-US" cap="none" dirty="0">
                <a:solidFill>
                  <a:schemeClr val="bg1"/>
                </a:solidFill>
              </a:rPr>
              <a:t>and layout are influencing signal degradation</a:t>
            </a:r>
            <a:r>
              <a:rPr lang="en-US" dirty="0"/>
              <a:t>.</a:t>
            </a:r>
            <a:endParaRPr lang="en-IN" dirty="0"/>
          </a:p>
        </p:txBody>
      </p:sp>
    </p:spTree>
    <p:extLst>
      <p:ext uri="{BB962C8B-B14F-4D97-AF65-F5344CB8AC3E}">
        <p14:creationId xmlns:p14="http://schemas.microsoft.com/office/powerpoint/2010/main" val="571502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F52E4-98C8-0196-B68E-6AE8F87F0AB7}"/>
              </a:ext>
            </a:extLst>
          </p:cNvPr>
          <p:cNvSpPr>
            <a:spLocks noGrp="1"/>
          </p:cNvSpPr>
          <p:nvPr>
            <p:ph type="ctrTitle"/>
          </p:nvPr>
        </p:nvSpPr>
        <p:spPr>
          <a:xfrm>
            <a:off x="1154955" y="757085"/>
            <a:ext cx="8825658" cy="428620"/>
          </a:xfrm>
        </p:spPr>
        <p:txBody>
          <a:bodyPr/>
          <a:lstStyle/>
          <a:p>
            <a:r>
              <a:rPr lang="en-IN" sz="3200" dirty="0">
                <a:latin typeface="Verdana" panose="020B0604030504040204" pitchFamily="34" charset="0"/>
                <a:ea typeface="Verdana" panose="020B0604030504040204" pitchFamily="34" charset="0"/>
              </a:rPr>
              <a:t>Objective:</a:t>
            </a:r>
          </a:p>
        </p:txBody>
      </p:sp>
      <p:sp>
        <p:nvSpPr>
          <p:cNvPr id="4" name="Rectangle 1">
            <a:extLst>
              <a:ext uri="{FF2B5EF4-FFF2-40B4-BE49-F238E27FC236}">
                <a16:creationId xmlns:a16="http://schemas.microsoft.com/office/drawing/2014/main" id="{E708541D-00CF-D460-F0A2-835EE7A6C690}"/>
              </a:ext>
            </a:extLst>
          </p:cNvPr>
          <p:cNvSpPr>
            <a:spLocks noGrp="1" noChangeArrowheads="1"/>
          </p:cNvSpPr>
          <p:nvPr>
            <p:ph type="subTitle" idx="1"/>
          </p:nvPr>
        </p:nvSpPr>
        <p:spPr bwMode="auto">
          <a:xfrm>
            <a:off x="834153" y="1392900"/>
            <a:ext cx="10641065"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4" algn="l" defTabSz="9144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Analyze Path Loss</a:t>
            </a:r>
            <a:r>
              <a:rPr kumimoji="0" lang="en-US" altLang="en-US" sz="24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Quantify signal loss across different distances and wall types in indoor setups</a:t>
            </a:r>
            <a:endPar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Apply the</a:t>
            </a:r>
            <a:r>
              <a:rPr kumimoji="0" lang="en-US" altLang="en-US" sz="24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COST-231</a:t>
            </a:r>
            <a:r>
              <a:rPr kumimoji="0" lang="en-US" altLang="en-US" sz="24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a:t>
            </a: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Multiwall Model</a:t>
            </a:r>
            <a:r>
              <a:rPr kumimoji="0" lang="en-US" altLang="en-US" sz="24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Use the model's parameters to simulate and predict indoor path loss effectively.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Compare Theoretical and Practical Results</a:t>
            </a:r>
            <a:r>
              <a:rPr kumimoji="0" lang="en-US" altLang="en-US" sz="24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Validate the model by comparing its predictions with real-world measurements or simulations.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Identify Key Influencing Factors</a:t>
            </a:r>
            <a:r>
              <a:rPr kumimoji="0" lang="en-US" altLang="en-US" sz="24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Examine the impact of wall attenuation, transmission power, and frequency on path loss.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Improve Wireless Network Design</a:t>
            </a:r>
            <a:r>
              <a:rPr kumimoji="0" lang="en-US" altLang="en-US" sz="24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 Provide insights for designing efficient indoor wireless communication systems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424401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0C848-56E8-3C8B-6F29-E06CFB0C6D3E}"/>
              </a:ext>
            </a:extLst>
          </p:cNvPr>
          <p:cNvSpPr>
            <a:spLocks noGrp="1"/>
          </p:cNvSpPr>
          <p:nvPr>
            <p:ph type="ctrTitle"/>
          </p:nvPr>
        </p:nvSpPr>
        <p:spPr>
          <a:xfrm>
            <a:off x="1154955" y="717755"/>
            <a:ext cx="8825658" cy="501445"/>
          </a:xfrm>
        </p:spPr>
        <p:txBody>
          <a:bodyPr/>
          <a:lstStyle/>
          <a:p>
            <a:r>
              <a:rPr lang="en-IN" sz="3200" dirty="0">
                <a:latin typeface="Verdana" panose="020B0604030504040204" pitchFamily="34" charset="0"/>
                <a:ea typeface="Verdana" panose="020B0604030504040204" pitchFamily="34" charset="0"/>
              </a:rPr>
              <a:t>Introduction:</a:t>
            </a:r>
          </a:p>
        </p:txBody>
      </p:sp>
      <p:sp>
        <p:nvSpPr>
          <p:cNvPr id="3" name="Subtitle 2">
            <a:extLst>
              <a:ext uri="{FF2B5EF4-FFF2-40B4-BE49-F238E27FC236}">
                <a16:creationId xmlns:a16="http://schemas.microsoft.com/office/drawing/2014/main" id="{1FCC94DD-1398-F1DA-C20A-9AC084C26398}"/>
              </a:ext>
            </a:extLst>
          </p:cNvPr>
          <p:cNvSpPr>
            <a:spLocks noGrp="1"/>
          </p:cNvSpPr>
          <p:nvPr>
            <p:ph type="subTitle" idx="1"/>
          </p:nvPr>
        </p:nvSpPr>
        <p:spPr>
          <a:xfrm>
            <a:off x="688258" y="1641987"/>
            <a:ext cx="10579509" cy="3996813"/>
          </a:xfrm>
        </p:spPr>
        <p:txBody>
          <a:bodyPr>
            <a:normAutofit/>
          </a:bodyPr>
          <a:lstStyle/>
          <a:p>
            <a:pPr marL="285750" indent="-285750">
              <a:buFont typeface="Arial" panose="020B0604020202020204" pitchFamily="34" charset="0"/>
              <a:buChar char="•"/>
            </a:pPr>
            <a:r>
              <a:rPr lang="en-US" sz="2400" dirty="0">
                <a:solidFill>
                  <a:schemeClr val="bg1"/>
                </a:solidFill>
                <a:latin typeface="Verdana" panose="020B0604030504040204" pitchFamily="34" charset="0"/>
                <a:ea typeface="Verdana" panose="020B0604030504040204" pitchFamily="34" charset="0"/>
              </a:rPr>
              <a:t>E</a:t>
            </a:r>
            <a:r>
              <a:rPr lang="en-US" sz="2400" cap="none" dirty="0">
                <a:solidFill>
                  <a:schemeClr val="bg1"/>
                </a:solidFill>
                <a:latin typeface="Verdana" panose="020B0604030504040204" pitchFamily="34" charset="0"/>
                <a:ea typeface="Verdana" panose="020B0604030504040204" pitchFamily="34" charset="0"/>
              </a:rPr>
              <a:t>xplaining the concept of path loss in wireless communication</a:t>
            </a:r>
            <a:r>
              <a:rPr lang="en-US" sz="2400" dirty="0">
                <a:solidFill>
                  <a:schemeClr val="bg1"/>
                </a:solidFill>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r>
              <a:rPr lang="en-US" sz="2400" cap="none" dirty="0">
                <a:solidFill>
                  <a:schemeClr val="bg1"/>
                </a:solidFill>
                <a:latin typeface="Verdana" panose="020B0604030504040204" pitchFamily="34" charset="0"/>
                <a:ea typeface="Verdana" panose="020B0604030504040204" pitchFamily="34" charset="0"/>
              </a:rPr>
              <a:t>We should know the cost-231 multiwall model (its purpose and significance</a:t>
            </a:r>
            <a:r>
              <a:rPr lang="en-US" sz="2400" dirty="0">
                <a:solidFill>
                  <a:schemeClr val="bg1"/>
                </a:solidFill>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r>
              <a:rPr lang="en-IN" sz="2400" dirty="0">
                <a:solidFill>
                  <a:schemeClr val="bg1"/>
                </a:solidFill>
                <a:latin typeface="Verdana" panose="020B0604030504040204" pitchFamily="34" charset="0"/>
                <a:ea typeface="Verdana" panose="020B0604030504040204" pitchFamily="34" charset="0"/>
              </a:rPr>
              <a:t>C</a:t>
            </a:r>
            <a:r>
              <a:rPr lang="en-IN" sz="2400" cap="none" dirty="0">
                <a:solidFill>
                  <a:schemeClr val="bg1"/>
                </a:solidFill>
                <a:latin typeface="Verdana" panose="020B0604030504040204" pitchFamily="34" charset="0"/>
                <a:ea typeface="Verdana" panose="020B0604030504040204" pitchFamily="34" charset="0"/>
              </a:rPr>
              <a:t>hallenges due to signal obstruction (walls, furniture, etc.).</a:t>
            </a:r>
            <a:endParaRPr lang="en-IN" sz="2400"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726585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43DA-3EEB-03C0-8A80-74E417D89694}"/>
              </a:ext>
            </a:extLst>
          </p:cNvPr>
          <p:cNvSpPr>
            <a:spLocks noGrp="1"/>
          </p:cNvSpPr>
          <p:nvPr>
            <p:ph type="ctrTitle"/>
          </p:nvPr>
        </p:nvSpPr>
        <p:spPr>
          <a:xfrm>
            <a:off x="1154955" y="786581"/>
            <a:ext cx="8825658" cy="619432"/>
          </a:xfrm>
        </p:spPr>
        <p:txBody>
          <a:bodyPr/>
          <a:lstStyle/>
          <a:p>
            <a:r>
              <a:rPr lang="en-IN" sz="3200" dirty="0">
                <a:latin typeface="Verdana" panose="020B0604030504040204" pitchFamily="34" charset="0"/>
                <a:ea typeface="Verdana" panose="020B0604030504040204" pitchFamily="34" charset="0"/>
              </a:rPr>
              <a:t>Existing work: </a:t>
            </a:r>
          </a:p>
        </p:txBody>
      </p:sp>
      <p:sp>
        <p:nvSpPr>
          <p:cNvPr id="3" name="Subtitle 2">
            <a:extLst>
              <a:ext uri="{FF2B5EF4-FFF2-40B4-BE49-F238E27FC236}">
                <a16:creationId xmlns:a16="http://schemas.microsoft.com/office/drawing/2014/main" id="{DD1364D5-D020-B33B-1364-3DD00B918593}"/>
              </a:ext>
            </a:extLst>
          </p:cNvPr>
          <p:cNvSpPr>
            <a:spLocks noGrp="1"/>
          </p:cNvSpPr>
          <p:nvPr>
            <p:ph type="subTitle" idx="1"/>
          </p:nvPr>
        </p:nvSpPr>
        <p:spPr>
          <a:xfrm>
            <a:off x="875071" y="1799303"/>
            <a:ext cx="9979742" cy="3839497"/>
          </a:xfrm>
        </p:spPr>
        <p:txBody>
          <a:bodyPr/>
          <a:lstStyle/>
          <a:p>
            <a:pPr marL="285750" indent="-285750">
              <a:buFont typeface="Arial" panose="020B0604020202020204" pitchFamily="34" charset="0"/>
              <a:buChar char="•"/>
            </a:pPr>
            <a:r>
              <a:rPr lang="en-US" sz="2400" b="1" cap="none" dirty="0">
                <a:solidFill>
                  <a:schemeClr val="bg1"/>
                </a:solidFill>
                <a:latin typeface="Verdana" panose="020B0604030504040204" pitchFamily="34" charset="0"/>
                <a:ea typeface="Verdana" panose="020B0604030504040204" pitchFamily="34" charset="0"/>
              </a:rPr>
              <a:t>Free space path loss model</a:t>
            </a:r>
            <a:r>
              <a:rPr lang="en-US" sz="2400" dirty="0">
                <a:solidFill>
                  <a:schemeClr val="bg1"/>
                </a:solidFill>
                <a:latin typeface="Verdana" panose="020B0604030504040204" pitchFamily="34" charset="0"/>
                <a:ea typeface="Verdana" panose="020B0604030504040204" pitchFamily="34" charset="0"/>
              </a:rPr>
              <a:t>: </a:t>
            </a:r>
            <a:r>
              <a:rPr lang="en-US" sz="2400" cap="none" dirty="0">
                <a:solidFill>
                  <a:schemeClr val="bg1"/>
                </a:solidFill>
                <a:latin typeface="Verdana" panose="020B0604030504040204" pitchFamily="34" charset="0"/>
                <a:ea typeface="Verdana" panose="020B0604030504040204" pitchFamily="34" charset="0"/>
              </a:rPr>
              <a:t>simplistic, assumes unobstructed propagation</a:t>
            </a:r>
            <a:r>
              <a:rPr lang="en-US" sz="2400" dirty="0">
                <a:solidFill>
                  <a:schemeClr val="bg1"/>
                </a:solidFill>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r>
              <a:rPr lang="en-US" sz="2400" b="1" cap="none" dirty="0">
                <a:solidFill>
                  <a:schemeClr val="bg1"/>
                </a:solidFill>
                <a:latin typeface="Verdana" panose="020B0604030504040204" pitchFamily="34" charset="0"/>
                <a:ea typeface="Verdana" panose="020B0604030504040204" pitchFamily="34" charset="0"/>
              </a:rPr>
              <a:t>Okumura-</a:t>
            </a:r>
            <a:r>
              <a:rPr lang="en-US" sz="2400" b="1" cap="none" dirty="0" err="1">
                <a:solidFill>
                  <a:schemeClr val="bg1"/>
                </a:solidFill>
                <a:latin typeface="Verdana" panose="020B0604030504040204" pitchFamily="34" charset="0"/>
                <a:ea typeface="Verdana" panose="020B0604030504040204" pitchFamily="34" charset="0"/>
              </a:rPr>
              <a:t>hata</a:t>
            </a:r>
            <a:r>
              <a:rPr lang="en-US" sz="2400" b="1" cap="none" dirty="0">
                <a:solidFill>
                  <a:schemeClr val="bg1"/>
                </a:solidFill>
                <a:latin typeface="Verdana" panose="020B0604030504040204" pitchFamily="34" charset="0"/>
                <a:ea typeface="Verdana" panose="020B0604030504040204" pitchFamily="34" charset="0"/>
              </a:rPr>
              <a:t> model</a:t>
            </a:r>
            <a:r>
              <a:rPr lang="en-US" sz="2400" cap="none" dirty="0">
                <a:solidFill>
                  <a:schemeClr val="bg1"/>
                </a:solidFill>
                <a:latin typeface="Verdana" panose="020B0604030504040204" pitchFamily="34" charset="0"/>
                <a:ea typeface="Verdana" panose="020B0604030504040204" pitchFamily="34" charset="0"/>
              </a:rPr>
              <a:t>: adapted for urban areas but not ideal for indoor setups</a:t>
            </a:r>
            <a:r>
              <a:rPr lang="en-US" sz="2400" dirty="0">
                <a:solidFill>
                  <a:schemeClr val="bg1"/>
                </a:solidFill>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r>
              <a:rPr lang="en-US" sz="2400" b="1" dirty="0">
                <a:solidFill>
                  <a:schemeClr val="bg1"/>
                </a:solidFill>
                <a:latin typeface="Verdana" panose="020B0604030504040204" pitchFamily="34" charset="0"/>
                <a:ea typeface="Verdana" panose="020B0604030504040204" pitchFamily="34" charset="0"/>
              </a:rPr>
              <a:t>COST-231 </a:t>
            </a:r>
            <a:r>
              <a:rPr lang="en-US" sz="2400" b="1" cap="none" dirty="0">
                <a:solidFill>
                  <a:schemeClr val="bg1"/>
                </a:solidFill>
                <a:latin typeface="Verdana" panose="020B0604030504040204" pitchFamily="34" charset="0"/>
                <a:ea typeface="Verdana" panose="020B0604030504040204" pitchFamily="34" charset="0"/>
              </a:rPr>
              <a:t>Multiwall model</a:t>
            </a:r>
            <a:r>
              <a:rPr lang="en-US" sz="2400" cap="none" dirty="0">
                <a:solidFill>
                  <a:schemeClr val="bg1"/>
                </a:solidFill>
                <a:latin typeface="Verdana" panose="020B0604030504040204" pitchFamily="34" charset="0"/>
                <a:ea typeface="Verdana" panose="020B0604030504040204" pitchFamily="34" charset="0"/>
              </a:rPr>
              <a:t>: tailored for indoor environments, accounting for wall attenuation and materials</a:t>
            </a:r>
            <a:r>
              <a:rPr lang="en-US" dirty="0"/>
              <a:t>.</a:t>
            </a:r>
            <a:endParaRPr lang="en-IN" dirty="0"/>
          </a:p>
        </p:txBody>
      </p:sp>
    </p:spTree>
    <p:extLst>
      <p:ext uri="{BB962C8B-B14F-4D97-AF65-F5344CB8AC3E}">
        <p14:creationId xmlns:p14="http://schemas.microsoft.com/office/powerpoint/2010/main" val="2130225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715DE-66AD-22C6-1B5F-4CB01C9C4BBC}"/>
              </a:ext>
            </a:extLst>
          </p:cNvPr>
          <p:cNvSpPr>
            <a:spLocks noGrp="1"/>
          </p:cNvSpPr>
          <p:nvPr>
            <p:ph type="ctrTitle"/>
          </p:nvPr>
        </p:nvSpPr>
        <p:spPr>
          <a:xfrm>
            <a:off x="1154955" y="816077"/>
            <a:ext cx="8825658" cy="727588"/>
          </a:xfrm>
        </p:spPr>
        <p:txBody>
          <a:bodyPr/>
          <a:lstStyle/>
          <a:p>
            <a:r>
              <a:rPr lang="en-IN" sz="4000" dirty="0">
                <a:latin typeface="Verdana" panose="020B0604030504040204" pitchFamily="34" charset="0"/>
                <a:ea typeface="Verdana" panose="020B0604030504040204" pitchFamily="34" charset="0"/>
              </a:rPr>
              <a:t>Proposed work</a:t>
            </a:r>
          </a:p>
        </p:txBody>
      </p:sp>
      <p:sp>
        <p:nvSpPr>
          <p:cNvPr id="3" name="Subtitle 2">
            <a:extLst>
              <a:ext uri="{FF2B5EF4-FFF2-40B4-BE49-F238E27FC236}">
                <a16:creationId xmlns:a16="http://schemas.microsoft.com/office/drawing/2014/main" id="{05748E4A-CEA3-E994-AF84-13EB0BF18827}"/>
              </a:ext>
            </a:extLst>
          </p:cNvPr>
          <p:cNvSpPr>
            <a:spLocks noGrp="1"/>
          </p:cNvSpPr>
          <p:nvPr>
            <p:ph type="subTitle" idx="1"/>
          </p:nvPr>
        </p:nvSpPr>
        <p:spPr>
          <a:xfrm>
            <a:off x="1154955" y="1838632"/>
            <a:ext cx="9178748" cy="3800168"/>
          </a:xfrm>
        </p:spPr>
        <p:txBody>
          <a:bodyPr>
            <a:normAutofit fontScale="92500" lnSpcReduction="20000"/>
          </a:bodyPr>
          <a:lstStyle/>
          <a:p>
            <a:pPr marL="285750" indent="-285750">
              <a:buFont typeface="Arial" panose="020B0604020202020204" pitchFamily="34" charset="0"/>
              <a:buChar char="•"/>
            </a:pPr>
            <a:r>
              <a:rPr lang="en-US" sz="2600" b="1" cap="none" dirty="0">
                <a:solidFill>
                  <a:schemeClr val="bg1">
                    <a:lumMod val="95000"/>
                  </a:schemeClr>
                </a:solidFill>
                <a:latin typeface="Verdana" panose="020B0604030504040204" pitchFamily="34" charset="0"/>
                <a:ea typeface="Verdana" panose="020B0604030504040204" pitchFamily="34" charset="0"/>
              </a:rPr>
              <a:t>Data Collection</a:t>
            </a:r>
            <a:r>
              <a:rPr lang="en-US" sz="2600" cap="none" dirty="0">
                <a:solidFill>
                  <a:schemeClr val="bg1">
                    <a:lumMod val="95000"/>
                  </a:schemeClr>
                </a:solidFill>
                <a:latin typeface="Verdana" panose="020B0604030504040204" pitchFamily="34" charset="0"/>
                <a:ea typeface="Verdana" panose="020B0604030504040204" pitchFamily="34" charset="0"/>
              </a:rPr>
              <a:t>: Measure signal attenuation in different indoor environments and setups.</a:t>
            </a:r>
          </a:p>
          <a:p>
            <a:pPr marL="285750" indent="-285750">
              <a:buFont typeface="Arial" panose="020B0604020202020204" pitchFamily="34" charset="0"/>
              <a:buChar char="•"/>
            </a:pPr>
            <a:r>
              <a:rPr lang="en-US" sz="2600" b="1" cap="none" dirty="0">
                <a:solidFill>
                  <a:schemeClr val="bg1">
                    <a:lumMod val="95000"/>
                  </a:schemeClr>
                </a:solidFill>
                <a:latin typeface="Verdana" panose="020B0604030504040204" pitchFamily="34" charset="0"/>
                <a:ea typeface="Verdana" panose="020B0604030504040204" pitchFamily="34" charset="0"/>
              </a:rPr>
              <a:t>Model Implementation</a:t>
            </a:r>
            <a:r>
              <a:rPr lang="en-US" sz="2600" cap="none" dirty="0">
                <a:solidFill>
                  <a:schemeClr val="bg1">
                    <a:lumMod val="95000"/>
                  </a:schemeClr>
                </a:solidFill>
                <a:latin typeface="Verdana" panose="020B0604030504040204" pitchFamily="34" charset="0"/>
                <a:ea typeface="Verdana" panose="020B0604030504040204" pitchFamily="34" charset="0"/>
              </a:rPr>
              <a:t>: Use the cost-231 multiwall model to calculate path loss.</a:t>
            </a:r>
          </a:p>
          <a:p>
            <a:pPr marL="285750" indent="-285750">
              <a:buFont typeface="Arial" panose="020B0604020202020204" pitchFamily="34" charset="0"/>
              <a:buChar char="•"/>
            </a:pPr>
            <a:r>
              <a:rPr lang="en-US" sz="2600" b="1" cap="none" dirty="0">
                <a:solidFill>
                  <a:schemeClr val="bg1">
                    <a:lumMod val="95000"/>
                  </a:schemeClr>
                </a:solidFill>
                <a:latin typeface="Verdana" panose="020B0604030504040204" pitchFamily="34" charset="0"/>
                <a:ea typeface="Verdana" panose="020B0604030504040204" pitchFamily="34" charset="0"/>
              </a:rPr>
              <a:t>Simulation</a:t>
            </a:r>
            <a:r>
              <a:rPr lang="en-US" sz="2600" cap="none" dirty="0">
                <a:solidFill>
                  <a:schemeClr val="bg1">
                    <a:lumMod val="95000"/>
                  </a:schemeClr>
                </a:solidFill>
                <a:latin typeface="Verdana" panose="020B0604030504040204" pitchFamily="34" charset="0"/>
                <a:ea typeface="Verdana" panose="020B0604030504040204" pitchFamily="34" charset="0"/>
              </a:rPr>
              <a:t>: Utilize software tools like </a:t>
            </a:r>
            <a:r>
              <a:rPr lang="en-US" sz="2600" cap="none" dirty="0" err="1">
                <a:solidFill>
                  <a:schemeClr val="bg1">
                    <a:lumMod val="95000"/>
                  </a:schemeClr>
                </a:solidFill>
                <a:latin typeface="Verdana" panose="020B0604030504040204" pitchFamily="34" charset="0"/>
                <a:ea typeface="Verdana" panose="020B0604030504040204" pitchFamily="34" charset="0"/>
              </a:rPr>
              <a:t>matlab</a:t>
            </a:r>
            <a:r>
              <a:rPr lang="en-US" sz="2600" cap="none" dirty="0">
                <a:solidFill>
                  <a:schemeClr val="bg1">
                    <a:lumMod val="95000"/>
                  </a:schemeClr>
                </a:solidFill>
                <a:latin typeface="Verdana" panose="020B0604030504040204" pitchFamily="34" charset="0"/>
                <a:ea typeface="Verdana" panose="020B0604030504040204" pitchFamily="34" charset="0"/>
              </a:rPr>
              <a:t> to simulate indoor signal propagation.</a:t>
            </a:r>
          </a:p>
          <a:p>
            <a:pPr marL="285750" indent="-285750">
              <a:buFont typeface="Arial" panose="020B0604020202020204" pitchFamily="34" charset="0"/>
              <a:buChar char="•"/>
            </a:pPr>
            <a:r>
              <a:rPr lang="en-US" sz="2600" b="1" cap="none" dirty="0">
                <a:solidFill>
                  <a:schemeClr val="bg1">
                    <a:lumMod val="95000"/>
                  </a:schemeClr>
                </a:solidFill>
                <a:latin typeface="Verdana" panose="020B0604030504040204" pitchFamily="34" charset="0"/>
                <a:ea typeface="Verdana" panose="020B0604030504040204" pitchFamily="34" charset="0"/>
              </a:rPr>
              <a:t>Validation</a:t>
            </a:r>
            <a:r>
              <a:rPr lang="en-US" sz="2600" cap="none" dirty="0">
                <a:solidFill>
                  <a:schemeClr val="bg1">
                    <a:lumMod val="95000"/>
                  </a:schemeClr>
                </a:solidFill>
                <a:latin typeface="Verdana" panose="020B0604030504040204" pitchFamily="34" charset="0"/>
                <a:ea typeface="Verdana" panose="020B0604030504040204" pitchFamily="34" charset="0"/>
              </a:rPr>
              <a:t>: Compare theoretical results with experimental data for accuracy.</a:t>
            </a:r>
          </a:p>
          <a:p>
            <a:pPr marL="285750" indent="-285750">
              <a:buFont typeface="Arial" panose="020B0604020202020204" pitchFamily="34" charset="0"/>
              <a:buChar char="•"/>
            </a:pPr>
            <a:r>
              <a:rPr lang="en-US" sz="2600" b="1" cap="none" dirty="0">
                <a:solidFill>
                  <a:schemeClr val="bg1">
                    <a:lumMod val="95000"/>
                  </a:schemeClr>
                </a:solidFill>
                <a:latin typeface="Verdana" panose="020B0604030504040204" pitchFamily="34" charset="0"/>
                <a:ea typeface="Verdana" panose="020B0604030504040204" pitchFamily="34" charset="0"/>
              </a:rPr>
              <a:t>Optimization</a:t>
            </a:r>
            <a:r>
              <a:rPr lang="en-US" sz="2600" cap="none" dirty="0">
                <a:solidFill>
                  <a:schemeClr val="bg1">
                    <a:lumMod val="95000"/>
                  </a:schemeClr>
                </a:solidFill>
                <a:latin typeface="Verdana" panose="020B0604030504040204" pitchFamily="34" charset="0"/>
                <a:ea typeface="Verdana" panose="020B0604030504040204" pitchFamily="34" charset="0"/>
              </a:rPr>
              <a:t>: Recommend improvements for wireless network performance.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569889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0C6321-5EA5-E1AB-31F8-E2144E982E0A}"/>
              </a:ext>
            </a:extLst>
          </p:cNvPr>
          <p:cNvSpPr>
            <a:spLocks noGrp="1"/>
          </p:cNvSpPr>
          <p:nvPr>
            <p:ph type="subTitle" idx="1"/>
          </p:nvPr>
        </p:nvSpPr>
        <p:spPr>
          <a:xfrm>
            <a:off x="914400" y="678427"/>
            <a:ext cx="9556955" cy="5545392"/>
          </a:xfrm>
        </p:spPr>
        <p:txBody>
          <a:bodyPr>
            <a:normAutofit/>
          </a:bodyPr>
          <a:lstStyle/>
          <a:p>
            <a:r>
              <a:rPr lang="en-IN" sz="3200" dirty="0">
                <a:solidFill>
                  <a:schemeClr val="bg1"/>
                </a:solidFill>
                <a:latin typeface="Verdana" panose="020B0604030504040204" pitchFamily="34" charset="0"/>
                <a:ea typeface="Verdana" panose="020B0604030504040204" pitchFamily="34" charset="0"/>
              </a:rPr>
              <a:t>B</a:t>
            </a:r>
            <a:r>
              <a:rPr lang="en-IN" sz="3200" cap="none" dirty="0">
                <a:solidFill>
                  <a:schemeClr val="bg1"/>
                </a:solidFill>
                <a:latin typeface="Verdana" panose="020B0604030504040204" pitchFamily="34" charset="0"/>
                <a:ea typeface="Verdana" panose="020B0604030504040204" pitchFamily="34" charset="0"/>
              </a:rPr>
              <a:t>lock</a:t>
            </a:r>
            <a:r>
              <a:rPr lang="en-IN" sz="3200" dirty="0">
                <a:solidFill>
                  <a:schemeClr val="bg1"/>
                </a:solidFill>
                <a:latin typeface="Verdana" panose="020B0604030504040204" pitchFamily="34" charset="0"/>
                <a:ea typeface="Verdana" panose="020B0604030504040204" pitchFamily="34" charset="0"/>
              </a:rPr>
              <a:t> d</a:t>
            </a:r>
            <a:r>
              <a:rPr lang="en-IN" sz="3200" cap="none" dirty="0">
                <a:solidFill>
                  <a:schemeClr val="bg1"/>
                </a:solidFill>
                <a:latin typeface="Verdana" panose="020B0604030504040204" pitchFamily="34" charset="0"/>
                <a:ea typeface="Verdana" panose="020B0604030504040204" pitchFamily="34" charset="0"/>
              </a:rPr>
              <a:t>iagram</a:t>
            </a:r>
            <a:r>
              <a:rPr lang="en-IN" sz="3200" dirty="0">
                <a:solidFill>
                  <a:schemeClr val="bg1"/>
                </a:solidFill>
                <a:latin typeface="Verdana" panose="020B0604030504040204" pitchFamily="34" charset="0"/>
                <a:ea typeface="Verdana" panose="020B0604030504040204" pitchFamily="34" charset="0"/>
              </a:rPr>
              <a:t>:</a:t>
            </a:r>
          </a:p>
        </p:txBody>
      </p:sp>
      <p:graphicFrame>
        <p:nvGraphicFramePr>
          <p:cNvPr id="6" name="Table 5">
            <a:extLst>
              <a:ext uri="{FF2B5EF4-FFF2-40B4-BE49-F238E27FC236}">
                <a16:creationId xmlns:a16="http://schemas.microsoft.com/office/drawing/2014/main" id="{6D88EC4F-F1F4-FFAF-020C-0734F8411D22}"/>
              </a:ext>
            </a:extLst>
          </p:cNvPr>
          <p:cNvGraphicFramePr>
            <a:graphicFrameLocks noGrp="1"/>
          </p:cNvGraphicFramePr>
          <p:nvPr>
            <p:extLst>
              <p:ext uri="{D42A27DB-BD31-4B8C-83A1-F6EECF244321}">
                <p14:modId xmlns:p14="http://schemas.microsoft.com/office/powerpoint/2010/main" val="1569244418"/>
              </p:ext>
            </p:extLst>
          </p:nvPr>
        </p:nvGraphicFramePr>
        <p:xfrm>
          <a:off x="1933678" y="1336228"/>
          <a:ext cx="8128000" cy="579120"/>
        </p:xfrm>
        <a:graphic>
          <a:graphicData uri="http://schemas.openxmlformats.org/drawingml/2006/table">
            <a:tbl>
              <a:tblPr firstRow="1" bandRow="1">
                <a:tableStyleId>{073A0DAA-6AF3-43AB-8588-CEC1D06C72B9}</a:tableStyleId>
              </a:tblPr>
              <a:tblGrid>
                <a:gridCol w="8128000">
                  <a:extLst>
                    <a:ext uri="{9D8B030D-6E8A-4147-A177-3AD203B41FA5}">
                      <a16:colId xmlns:a16="http://schemas.microsoft.com/office/drawing/2014/main" val="257015067"/>
                    </a:ext>
                  </a:extLst>
                </a:gridCol>
              </a:tblGrid>
              <a:tr h="548695">
                <a:tc>
                  <a:txBody>
                    <a:bodyPr/>
                    <a:lstStyle/>
                    <a:p>
                      <a:r>
                        <a:rPr lang="en-IN" sz="1600" dirty="0">
                          <a:latin typeface="Verdana" panose="020B0604030504040204" pitchFamily="34" charset="0"/>
                          <a:ea typeface="Verdana" panose="020B0604030504040204" pitchFamily="34" charset="0"/>
                        </a:rPr>
                        <a:t>Data collection :</a:t>
                      </a:r>
                    </a:p>
                    <a:p>
                      <a:r>
                        <a:rPr lang="en-IN" sz="1600" dirty="0">
                          <a:latin typeface="Verdana" panose="020B0604030504040204" pitchFamily="34" charset="0"/>
                          <a:ea typeface="Verdana" panose="020B0604030504040204" pitchFamily="34" charset="0"/>
                        </a:rPr>
                        <a:t>Measuring </a:t>
                      </a:r>
                      <a:r>
                        <a:rPr lang="en-US" sz="1600" dirty="0">
                          <a:latin typeface="Verdana" panose="020B0604030504040204" pitchFamily="34" charset="0"/>
                          <a:ea typeface="Verdana" panose="020B0604030504040204" pitchFamily="34" charset="0"/>
                        </a:rPr>
                        <a:t>path loss and attenuation in selected environments</a:t>
                      </a:r>
                      <a:endParaRPr lang="en-IN" sz="1600" dirty="0">
                        <a:latin typeface="Verdana" panose="020B0604030504040204" pitchFamily="34" charset="0"/>
                        <a:ea typeface="Verdana" panose="020B0604030504040204" pitchFamily="34" charset="0"/>
                      </a:endParaRPr>
                    </a:p>
                  </a:txBody>
                  <a:tcPr>
                    <a:solidFill>
                      <a:schemeClr val="tx1"/>
                    </a:solidFill>
                  </a:tcPr>
                </a:tc>
                <a:extLst>
                  <a:ext uri="{0D108BD9-81ED-4DB2-BD59-A6C34878D82A}">
                    <a16:rowId xmlns:a16="http://schemas.microsoft.com/office/drawing/2014/main" val="3195279460"/>
                  </a:ext>
                </a:extLst>
              </a:tr>
            </a:tbl>
          </a:graphicData>
        </a:graphic>
      </p:graphicFrame>
      <p:graphicFrame>
        <p:nvGraphicFramePr>
          <p:cNvPr id="7" name="Table 6">
            <a:extLst>
              <a:ext uri="{FF2B5EF4-FFF2-40B4-BE49-F238E27FC236}">
                <a16:creationId xmlns:a16="http://schemas.microsoft.com/office/drawing/2014/main" id="{8429A60F-BBCD-2A1F-6F73-CF4CE26478B0}"/>
              </a:ext>
            </a:extLst>
          </p:cNvPr>
          <p:cNvGraphicFramePr>
            <a:graphicFrameLocks noGrp="1"/>
          </p:cNvGraphicFramePr>
          <p:nvPr>
            <p:extLst>
              <p:ext uri="{D42A27DB-BD31-4B8C-83A1-F6EECF244321}">
                <p14:modId xmlns:p14="http://schemas.microsoft.com/office/powerpoint/2010/main" val="3005503394"/>
              </p:ext>
            </p:extLst>
          </p:nvPr>
        </p:nvGraphicFramePr>
        <p:xfrm>
          <a:off x="1933678" y="2319262"/>
          <a:ext cx="7633110" cy="853440"/>
        </p:xfrm>
        <a:graphic>
          <a:graphicData uri="http://schemas.openxmlformats.org/drawingml/2006/table">
            <a:tbl>
              <a:tblPr firstRow="1" bandRow="1">
                <a:tableStyleId>{5C22544A-7EE6-4342-B048-85BDC9FD1C3A}</a:tableStyleId>
              </a:tblPr>
              <a:tblGrid>
                <a:gridCol w="7633110">
                  <a:extLst>
                    <a:ext uri="{9D8B030D-6E8A-4147-A177-3AD203B41FA5}">
                      <a16:colId xmlns:a16="http://schemas.microsoft.com/office/drawing/2014/main" val="1348952710"/>
                    </a:ext>
                  </a:extLst>
                </a:gridCol>
              </a:tblGrid>
              <a:tr h="139671">
                <a:tc>
                  <a:txBody>
                    <a:bodyPr/>
                    <a:lstStyle/>
                    <a:p>
                      <a:r>
                        <a:rPr lang="en-IN" sz="1600" dirty="0">
                          <a:latin typeface="Verdana" panose="020B0604030504040204" pitchFamily="34" charset="0"/>
                          <a:ea typeface="Verdana" panose="020B0604030504040204" pitchFamily="34" charset="0"/>
                        </a:rPr>
                        <a:t>Model implementation:</a:t>
                      </a:r>
                    </a:p>
                    <a:p>
                      <a:r>
                        <a:rPr lang="en-US" sz="1600" dirty="0">
                          <a:latin typeface="Verdana" panose="020B0604030504040204" pitchFamily="34" charset="0"/>
                          <a:ea typeface="Verdana" panose="020B0604030504040204" pitchFamily="34" charset="0"/>
                        </a:rPr>
                        <a:t>Applying the </a:t>
                      </a:r>
                      <a:r>
                        <a:rPr lang="en-US" sz="1600" b="1" dirty="0">
                          <a:latin typeface="Verdana" panose="020B0604030504040204" pitchFamily="34" charset="0"/>
                          <a:ea typeface="Verdana" panose="020B0604030504040204" pitchFamily="34" charset="0"/>
                        </a:rPr>
                        <a:t>COST-231 Multiwall Model</a:t>
                      </a:r>
                      <a:r>
                        <a:rPr lang="en-US" sz="1600" dirty="0">
                          <a:latin typeface="Verdana" panose="020B0604030504040204" pitchFamily="34" charset="0"/>
                          <a:ea typeface="Verdana" panose="020B0604030504040204" pitchFamily="34" charset="0"/>
                        </a:rPr>
                        <a:t> to analyze the impact of walls, materials, and frequency on signal behavior</a:t>
                      </a:r>
                      <a:r>
                        <a:rPr lang="en-US" dirty="0"/>
                        <a:t>.</a:t>
                      </a:r>
                      <a:endParaRPr lang="en-IN" dirty="0"/>
                    </a:p>
                  </a:txBody>
                  <a:tcPr>
                    <a:solidFill>
                      <a:schemeClr val="tx1"/>
                    </a:solidFill>
                  </a:tcPr>
                </a:tc>
                <a:extLst>
                  <a:ext uri="{0D108BD9-81ED-4DB2-BD59-A6C34878D82A}">
                    <a16:rowId xmlns:a16="http://schemas.microsoft.com/office/drawing/2014/main" val="2250065477"/>
                  </a:ext>
                </a:extLst>
              </a:tr>
            </a:tbl>
          </a:graphicData>
        </a:graphic>
      </p:graphicFrame>
      <p:graphicFrame>
        <p:nvGraphicFramePr>
          <p:cNvPr id="8" name="Table 7">
            <a:extLst>
              <a:ext uri="{FF2B5EF4-FFF2-40B4-BE49-F238E27FC236}">
                <a16:creationId xmlns:a16="http://schemas.microsoft.com/office/drawing/2014/main" id="{9CA239C5-A65D-BC76-CDE2-9B0450A24358}"/>
              </a:ext>
            </a:extLst>
          </p:cNvPr>
          <p:cNvGraphicFramePr>
            <a:graphicFrameLocks noGrp="1"/>
          </p:cNvGraphicFramePr>
          <p:nvPr>
            <p:extLst>
              <p:ext uri="{D42A27DB-BD31-4B8C-83A1-F6EECF244321}">
                <p14:modId xmlns:p14="http://schemas.microsoft.com/office/powerpoint/2010/main" val="4126143388"/>
              </p:ext>
            </p:extLst>
          </p:nvPr>
        </p:nvGraphicFramePr>
        <p:xfrm>
          <a:off x="1933678" y="3492008"/>
          <a:ext cx="8128000" cy="6400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944226751"/>
                    </a:ext>
                  </a:extLst>
                </a:gridCol>
              </a:tblGrid>
              <a:tr h="0">
                <a:tc>
                  <a:txBody>
                    <a:bodyPr/>
                    <a:lstStyle/>
                    <a:p>
                      <a:r>
                        <a:rPr lang="en-IN" dirty="0"/>
                        <a:t>Simulation:</a:t>
                      </a:r>
                    </a:p>
                    <a:p>
                      <a:r>
                        <a:rPr lang="en-IN" dirty="0"/>
                        <a:t>Using MATLAB software for simulating code</a:t>
                      </a:r>
                    </a:p>
                  </a:txBody>
                  <a:tcPr>
                    <a:solidFill>
                      <a:schemeClr val="tx1"/>
                    </a:solidFill>
                  </a:tcPr>
                </a:tc>
                <a:extLst>
                  <a:ext uri="{0D108BD9-81ED-4DB2-BD59-A6C34878D82A}">
                    <a16:rowId xmlns:a16="http://schemas.microsoft.com/office/drawing/2014/main" val="2973382050"/>
                  </a:ext>
                </a:extLst>
              </a:tr>
            </a:tbl>
          </a:graphicData>
        </a:graphic>
      </p:graphicFrame>
      <p:graphicFrame>
        <p:nvGraphicFramePr>
          <p:cNvPr id="9" name="Table 8">
            <a:extLst>
              <a:ext uri="{FF2B5EF4-FFF2-40B4-BE49-F238E27FC236}">
                <a16:creationId xmlns:a16="http://schemas.microsoft.com/office/drawing/2014/main" id="{D2410D82-88BA-1798-5DAF-39E117C8D196}"/>
              </a:ext>
            </a:extLst>
          </p:cNvPr>
          <p:cNvGraphicFramePr>
            <a:graphicFrameLocks noGrp="1"/>
          </p:cNvGraphicFramePr>
          <p:nvPr>
            <p:extLst>
              <p:ext uri="{D42A27DB-BD31-4B8C-83A1-F6EECF244321}">
                <p14:modId xmlns:p14="http://schemas.microsoft.com/office/powerpoint/2010/main" val="4189643141"/>
              </p:ext>
            </p:extLst>
          </p:nvPr>
        </p:nvGraphicFramePr>
        <p:xfrm>
          <a:off x="1876322" y="4451394"/>
          <a:ext cx="8128000" cy="6096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71725165"/>
                    </a:ext>
                  </a:extLst>
                </a:gridCol>
              </a:tblGrid>
              <a:tr h="264104">
                <a:tc>
                  <a:txBody>
                    <a:bodyPr/>
                    <a:lstStyle/>
                    <a:p>
                      <a:r>
                        <a:rPr lang="en-IN" sz="1600" dirty="0">
                          <a:latin typeface="Verdana" panose="020B0604030504040204" pitchFamily="34" charset="0"/>
                          <a:ea typeface="Verdana" panose="020B0604030504040204" pitchFamily="34" charset="0"/>
                        </a:rPr>
                        <a:t>Validation:</a:t>
                      </a:r>
                    </a:p>
                    <a:p>
                      <a:r>
                        <a:rPr lang="en-IN" sz="1600" dirty="0">
                          <a:latin typeface="Verdana" panose="020B0604030504040204" pitchFamily="34" charset="0"/>
                          <a:ea typeface="Verdana" panose="020B0604030504040204" pitchFamily="34" charset="0"/>
                        </a:rPr>
                        <a:t>Comparing real world data with theoretical values for accuracy</a:t>
                      </a:r>
                      <a:r>
                        <a:rPr lang="en-IN" dirty="0"/>
                        <a:t>.</a:t>
                      </a:r>
                    </a:p>
                  </a:txBody>
                  <a:tcPr>
                    <a:solidFill>
                      <a:schemeClr val="tx1"/>
                    </a:solidFill>
                  </a:tcPr>
                </a:tc>
                <a:extLst>
                  <a:ext uri="{0D108BD9-81ED-4DB2-BD59-A6C34878D82A}">
                    <a16:rowId xmlns:a16="http://schemas.microsoft.com/office/drawing/2014/main" val="1633141257"/>
                  </a:ext>
                </a:extLst>
              </a:tr>
            </a:tbl>
          </a:graphicData>
        </a:graphic>
      </p:graphicFrame>
      <p:graphicFrame>
        <p:nvGraphicFramePr>
          <p:cNvPr id="10" name="Table 9">
            <a:extLst>
              <a:ext uri="{FF2B5EF4-FFF2-40B4-BE49-F238E27FC236}">
                <a16:creationId xmlns:a16="http://schemas.microsoft.com/office/drawing/2014/main" id="{A42AB92A-DE60-8307-B556-017A39CC09D7}"/>
              </a:ext>
            </a:extLst>
          </p:cNvPr>
          <p:cNvGraphicFramePr>
            <a:graphicFrameLocks noGrp="1"/>
          </p:cNvGraphicFramePr>
          <p:nvPr>
            <p:extLst>
              <p:ext uri="{D42A27DB-BD31-4B8C-83A1-F6EECF244321}">
                <p14:modId xmlns:p14="http://schemas.microsoft.com/office/powerpoint/2010/main" val="2418641802"/>
              </p:ext>
            </p:extLst>
          </p:nvPr>
        </p:nvGraphicFramePr>
        <p:xfrm>
          <a:off x="1720645" y="5419815"/>
          <a:ext cx="8128000" cy="5791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849453184"/>
                    </a:ext>
                  </a:extLst>
                </a:gridCol>
              </a:tblGrid>
              <a:tr h="370840">
                <a:tc>
                  <a:txBody>
                    <a:bodyPr/>
                    <a:lstStyle/>
                    <a:p>
                      <a:r>
                        <a:rPr lang="en-IN" sz="1600" dirty="0">
                          <a:latin typeface="Verdana" panose="020B0604030504040204" pitchFamily="34" charset="0"/>
                          <a:ea typeface="Verdana" panose="020B0604030504040204" pitchFamily="34" charset="0"/>
                        </a:rPr>
                        <a:t>Optimization:</a:t>
                      </a:r>
                    </a:p>
                    <a:p>
                      <a:r>
                        <a:rPr lang="en-IN" sz="1600" dirty="0">
                          <a:latin typeface="Verdana" panose="020B0604030504040204" pitchFamily="34" charset="0"/>
                          <a:ea typeface="Verdana" panose="020B0604030504040204" pitchFamily="34" charset="0"/>
                        </a:rPr>
                        <a:t>With results suggesting better setups for reduced signal loss</a:t>
                      </a:r>
                    </a:p>
                  </a:txBody>
                  <a:tcPr>
                    <a:solidFill>
                      <a:schemeClr val="tx1"/>
                    </a:solidFill>
                  </a:tcPr>
                </a:tc>
                <a:extLst>
                  <a:ext uri="{0D108BD9-81ED-4DB2-BD59-A6C34878D82A}">
                    <a16:rowId xmlns:a16="http://schemas.microsoft.com/office/drawing/2014/main" val="2431060902"/>
                  </a:ext>
                </a:extLst>
              </a:tr>
            </a:tbl>
          </a:graphicData>
        </a:graphic>
      </p:graphicFrame>
      <p:sp>
        <p:nvSpPr>
          <p:cNvPr id="11" name="Arrow: Down 10">
            <a:extLst>
              <a:ext uri="{FF2B5EF4-FFF2-40B4-BE49-F238E27FC236}">
                <a16:creationId xmlns:a16="http://schemas.microsoft.com/office/drawing/2014/main" id="{C1FC73C1-3512-EE57-F980-A924E57E45F4}"/>
              </a:ext>
            </a:extLst>
          </p:cNvPr>
          <p:cNvSpPr/>
          <p:nvPr/>
        </p:nvSpPr>
        <p:spPr>
          <a:xfrm>
            <a:off x="5611368" y="1978906"/>
            <a:ext cx="484632" cy="3539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a:extLst>
              <a:ext uri="{FF2B5EF4-FFF2-40B4-BE49-F238E27FC236}">
                <a16:creationId xmlns:a16="http://schemas.microsoft.com/office/drawing/2014/main" id="{171E9783-CD6A-8B3D-DB1D-7581919D79F3}"/>
              </a:ext>
            </a:extLst>
          </p:cNvPr>
          <p:cNvSpPr/>
          <p:nvPr/>
        </p:nvSpPr>
        <p:spPr>
          <a:xfrm>
            <a:off x="5692877" y="3240748"/>
            <a:ext cx="484632" cy="3269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Down 12">
            <a:extLst>
              <a:ext uri="{FF2B5EF4-FFF2-40B4-BE49-F238E27FC236}">
                <a16:creationId xmlns:a16="http://schemas.microsoft.com/office/drawing/2014/main" id="{C5F93AA8-4CFE-D86F-218B-D36C991C295B}"/>
              </a:ext>
            </a:extLst>
          </p:cNvPr>
          <p:cNvSpPr/>
          <p:nvPr/>
        </p:nvSpPr>
        <p:spPr>
          <a:xfrm>
            <a:off x="5692877" y="4174839"/>
            <a:ext cx="484632" cy="3284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9C9746B7-EED0-1DF1-988B-B401B90FA4D2}"/>
              </a:ext>
            </a:extLst>
          </p:cNvPr>
          <p:cNvSpPr/>
          <p:nvPr/>
        </p:nvSpPr>
        <p:spPr>
          <a:xfrm>
            <a:off x="5728502" y="5107773"/>
            <a:ext cx="484632" cy="3401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6372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A367-8B72-9771-5047-39AC8AACBA51}"/>
              </a:ext>
            </a:extLst>
          </p:cNvPr>
          <p:cNvSpPr>
            <a:spLocks noGrp="1"/>
          </p:cNvSpPr>
          <p:nvPr>
            <p:ph type="ctrTitle"/>
          </p:nvPr>
        </p:nvSpPr>
        <p:spPr>
          <a:xfrm>
            <a:off x="1154955" y="707923"/>
            <a:ext cx="8825658" cy="648930"/>
          </a:xfrm>
        </p:spPr>
        <p:txBody>
          <a:bodyPr/>
          <a:lstStyle/>
          <a:p>
            <a:r>
              <a:rPr lang="en-IN" sz="3200" b="1" dirty="0">
                <a:solidFill>
                  <a:schemeClr val="bg1">
                    <a:lumMod val="95000"/>
                  </a:schemeClr>
                </a:solidFill>
                <a:latin typeface="Verdana" panose="020B0604030504040204" pitchFamily="34" charset="0"/>
                <a:ea typeface="Verdana" panose="020B0604030504040204" pitchFamily="34" charset="0"/>
                <a:cs typeface="Arial" panose="020B0604020202020204" pitchFamily="34" charset="0"/>
              </a:rPr>
              <a:t>R</a:t>
            </a:r>
            <a:r>
              <a:rPr lang="en-IN" sz="3200" b="1" dirty="0">
                <a:latin typeface="Verdana" panose="020B0604030504040204" pitchFamily="34" charset="0"/>
                <a:ea typeface="Verdana" panose="020B0604030504040204" pitchFamily="34" charset="0"/>
                <a:cs typeface="Arial" panose="020B0604020202020204" pitchFamily="34" charset="0"/>
              </a:rPr>
              <a:t>eference:</a:t>
            </a:r>
            <a:endParaRPr lang="en-IN" sz="3200" dirty="0">
              <a:latin typeface="Verdana" panose="020B0604030504040204" pitchFamily="34" charset="0"/>
              <a:ea typeface="Verdana" panose="020B0604030504040204" pitchFamily="34" charset="0"/>
            </a:endParaRPr>
          </a:p>
        </p:txBody>
      </p:sp>
      <p:sp>
        <p:nvSpPr>
          <p:cNvPr id="3" name="Subtitle 2">
            <a:extLst>
              <a:ext uri="{FF2B5EF4-FFF2-40B4-BE49-F238E27FC236}">
                <a16:creationId xmlns:a16="http://schemas.microsoft.com/office/drawing/2014/main" id="{E022B091-6F8F-36DD-5580-D645B3E0BFED}"/>
              </a:ext>
            </a:extLst>
          </p:cNvPr>
          <p:cNvSpPr>
            <a:spLocks noGrp="1"/>
          </p:cNvSpPr>
          <p:nvPr>
            <p:ph type="subTitle" idx="1"/>
          </p:nvPr>
        </p:nvSpPr>
        <p:spPr>
          <a:xfrm>
            <a:off x="938644" y="1356853"/>
            <a:ext cx="10122645" cy="4793224"/>
          </a:xfrm>
        </p:spPr>
        <p:txBody>
          <a:bodyPr>
            <a:normAutofit fontScale="92500" lnSpcReduction="20000"/>
          </a:bodyPr>
          <a:lstStyle/>
          <a:p>
            <a:pPr marL="342900" indent="-342900">
              <a:buAutoNum type="arabicPeriod"/>
            </a:pPr>
            <a:r>
              <a:rPr lang="en-IN" sz="2600" dirty="0">
                <a:solidFill>
                  <a:schemeClr val="bg1"/>
                </a:solidFill>
                <a:latin typeface="Verdana" panose="020B0604030504040204" pitchFamily="34" charset="0"/>
                <a:ea typeface="Verdana" panose="020B0604030504040204" pitchFamily="34" charset="0"/>
              </a:rPr>
              <a:t>Z. Li, H. Hu, J. Zhang and J. Zhang, "Impact of Wall Penetration Loss on Indoor Wireless Networks," in IEEE Antennas and Wireless Propagation Letters, vol. 20, no. 10, pp. 1888-1892, Oct. 2021, </a:t>
            </a:r>
            <a:r>
              <a:rPr lang="en-IN" sz="2600" dirty="0" err="1">
                <a:solidFill>
                  <a:schemeClr val="bg1"/>
                </a:solidFill>
                <a:latin typeface="Verdana" panose="020B0604030504040204" pitchFamily="34" charset="0"/>
                <a:ea typeface="Verdana" panose="020B0604030504040204" pitchFamily="34" charset="0"/>
              </a:rPr>
              <a:t>doi</a:t>
            </a:r>
            <a:r>
              <a:rPr lang="en-IN" sz="2600" dirty="0">
                <a:solidFill>
                  <a:schemeClr val="bg1"/>
                </a:solidFill>
                <a:latin typeface="Verdana" panose="020B0604030504040204" pitchFamily="34" charset="0"/>
                <a:ea typeface="Verdana" panose="020B0604030504040204" pitchFamily="34" charset="0"/>
              </a:rPr>
              <a:t>: 10.1109/LAWP.2021.3099339.</a:t>
            </a:r>
          </a:p>
          <a:p>
            <a:pPr marL="342900" indent="-342900">
              <a:buAutoNum type="arabicPeriod"/>
            </a:pPr>
            <a:r>
              <a:rPr lang="en-IN" sz="2600" dirty="0">
                <a:solidFill>
                  <a:schemeClr val="bg1"/>
                </a:solidFill>
                <a:latin typeface="Verdana" panose="020B0604030504040204" pitchFamily="34" charset="0"/>
                <a:ea typeface="Verdana" panose="020B0604030504040204" pitchFamily="34" charset="0"/>
              </a:rPr>
              <a:t> 2. H. A. Obeidat et al., "An indoor path loss prediction model using wall correction factors for wireless local area network and 5G indoor networks," in Radio Science, vol. 53, no. 4, pp. 544-564, April 2018, </a:t>
            </a:r>
            <a:r>
              <a:rPr lang="en-IN" sz="2600" dirty="0" err="1">
                <a:solidFill>
                  <a:schemeClr val="bg1"/>
                </a:solidFill>
                <a:latin typeface="Verdana" panose="020B0604030504040204" pitchFamily="34" charset="0"/>
                <a:ea typeface="Verdana" panose="020B0604030504040204" pitchFamily="34" charset="0"/>
              </a:rPr>
              <a:t>doi</a:t>
            </a:r>
            <a:r>
              <a:rPr lang="en-IN" sz="2600" dirty="0">
                <a:solidFill>
                  <a:schemeClr val="bg1"/>
                </a:solidFill>
                <a:latin typeface="Verdana" panose="020B0604030504040204" pitchFamily="34" charset="0"/>
                <a:ea typeface="Verdana" panose="020B0604030504040204" pitchFamily="34" charset="0"/>
              </a:rPr>
              <a:t>: 10.1002/2018RS006536.</a:t>
            </a:r>
          </a:p>
          <a:p>
            <a:pPr marL="342900" indent="-342900">
              <a:buAutoNum type="arabicPeriod"/>
            </a:pPr>
            <a:r>
              <a:rPr lang="en-IN" sz="2600" dirty="0">
                <a:solidFill>
                  <a:schemeClr val="bg1"/>
                </a:solidFill>
                <a:latin typeface="Verdana" panose="020B0604030504040204" pitchFamily="34" charset="0"/>
                <a:ea typeface="Verdana" panose="020B0604030504040204" pitchFamily="34" charset="0"/>
              </a:rPr>
              <a:t> 3. V. Degli-Esposti, G. Falciasecca, F. Fuschini and E. M. Vitucci, "A Meaningful Indoor Path-Loss Formula," in IEEE Antennas and Wireless Propagation Letters, vol. 12, pp. 872-875, 2013, </a:t>
            </a:r>
            <a:r>
              <a:rPr lang="en-IN" sz="2600" dirty="0" err="1">
                <a:solidFill>
                  <a:schemeClr val="bg1"/>
                </a:solidFill>
                <a:latin typeface="Verdana" panose="020B0604030504040204" pitchFamily="34" charset="0"/>
                <a:ea typeface="Verdana" panose="020B0604030504040204" pitchFamily="34" charset="0"/>
              </a:rPr>
              <a:t>doi</a:t>
            </a:r>
            <a:r>
              <a:rPr lang="en-IN" sz="2600" dirty="0">
                <a:solidFill>
                  <a:schemeClr val="bg1"/>
                </a:solidFill>
                <a:latin typeface="Verdana" panose="020B0604030504040204" pitchFamily="34" charset="0"/>
                <a:ea typeface="Verdana" panose="020B0604030504040204" pitchFamily="34" charset="0"/>
              </a:rPr>
              <a:t>: 10.1109/LAWP.2013.2271532</a:t>
            </a:r>
            <a:r>
              <a:rPr lang="en-IN" dirty="0"/>
              <a:t>.</a:t>
            </a:r>
          </a:p>
        </p:txBody>
      </p:sp>
    </p:spTree>
    <p:extLst>
      <p:ext uri="{BB962C8B-B14F-4D97-AF65-F5344CB8AC3E}">
        <p14:creationId xmlns:p14="http://schemas.microsoft.com/office/powerpoint/2010/main" val="704979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D589B-6C95-7193-354B-EC99873B7B2C}"/>
              </a:ext>
            </a:extLst>
          </p:cNvPr>
          <p:cNvSpPr>
            <a:spLocks noGrp="1"/>
          </p:cNvSpPr>
          <p:nvPr>
            <p:ph type="ctrTitle"/>
          </p:nvPr>
        </p:nvSpPr>
        <p:spPr>
          <a:xfrm>
            <a:off x="1154955" y="2099733"/>
            <a:ext cx="8825658" cy="1567699"/>
          </a:xfrm>
        </p:spPr>
        <p:txBody>
          <a:bodyPr/>
          <a:lstStyle/>
          <a:p>
            <a:r>
              <a:rPr lang="en-IN" sz="4000" dirty="0">
                <a:latin typeface="Verdana" panose="020B0604030504040204" pitchFamily="34" charset="0"/>
                <a:ea typeface="Verdana" panose="020B0604030504040204" pitchFamily="34" charset="0"/>
              </a:rPr>
              <a:t>              Thank you</a:t>
            </a:r>
          </a:p>
        </p:txBody>
      </p:sp>
    </p:spTree>
    <p:extLst>
      <p:ext uri="{BB962C8B-B14F-4D97-AF65-F5344CB8AC3E}">
        <p14:creationId xmlns:p14="http://schemas.microsoft.com/office/powerpoint/2010/main" val="20971509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
  <TotalTime>235</TotalTime>
  <Words>565</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Verdana</vt:lpstr>
      <vt:lpstr>Wingdings 3</vt:lpstr>
      <vt:lpstr>Ion Boardroom</vt:lpstr>
      <vt:lpstr>Indoor Path Loss Analysis Using COST-231 Multiwall Model</vt:lpstr>
      <vt:lpstr>Contents:</vt:lpstr>
      <vt:lpstr>Aim:</vt:lpstr>
      <vt:lpstr>Objective:</vt:lpstr>
      <vt:lpstr>Introduction:</vt:lpstr>
      <vt:lpstr>Existing work: </vt:lpstr>
      <vt:lpstr>Proposed work</vt:lpstr>
      <vt:lpstr>PowerPoint Presentation</vt:lpstr>
      <vt:lpstr>Reference: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SOWJANYA YANAMALA</dc:creator>
  <cp:lastModifiedBy>SOWJANYA YANAMALA</cp:lastModifiedBy>
  <cp:revision>2</cp:revision>
  <dcterms:created xsi:type="dcterms:W3CDTF">2025-04-27T13:55:28Z</dcterms:created>
  <dcterms:modified xsi:type="dcterms:W3CDTF">2025-04-27T17:51:08Z</dcterms:modified>
</cp:coreProperties>
</file>